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6858000" cy="6904038"/>
  <p:notesSz cx="6904038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5" d="100"/>
          <a:sy n="65" d="100"/>
        </p:scale>
        <p:origin x="192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39737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28016"/>
            <a:ext cx="164592" cy="164592"/>
          </a:xfrm>
          <a:prstGeom prst="ellipse">
            <a:avLst/>
          </a:prstGeom>
          <a:solidFill>
            <a:srgbClr val="FFE8D5">
              <a:alpha val="92000"/>
            </a:srgbClr>
          </a:solidFill>
          <a:ln w="12700">
            <a:solidFill>
              <a:srgbClr val="FFE8D5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6446520" y="201168"/>
            <a:ext cx="219456" cy="219456"/>
          </a:xfrm>
          <a:prstGeom prst="ellipse">
            <a:avLst/>
          </a:prstGeom>
          <a:solidFill>
            <a:srgbClr val="E9BBD0">
              <a:alpha val="92000"/>
            </a:srgbClr>
          </a:solidFill>
          <a:ln w="12700">
            <a:solidFill>
              <a:srgbClr val="E9BBD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6291072" y="5870448"/>
            <a:ext cx="146304" cy="146304"/>
          </a:xfrm>
          <a:prstGeom prst="ellipse">
            <a:avLst/>
          </a:prstGeom>
          <a:solidFill>
            <a:srgbClr val="FFE0C2">
              <a:alpha val="82000"/>
            </a:srgbClr>
          </a:solidFill>
          <a:ln w="12700">
            <a:solidFill>
              <a:srgbClr val="FFE0C2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530352" y="438912"/>
            <a:ext cx="57972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sz="2400">
                <a:solidFill>
                  <a:srgbClr val="B61760"/>
                </a:solidFill>
                <a:latin typeface="Aptos Display"/>
              </a:rPr>
              <a:t>IV Jornadas Metodológicas y</a:t>
            </a:r>
          </a:p>
          <a:p>
            <a:pPr algn="ctr"/>
            <a:r>
              <a:rPr sz="2400">
                <a:solidFill>
                  <a:srgbClr val="B61760"/>
                </a:solidFill>
                <a:latin typeface="Aptos Display"/>
              </a:rPr>
              <a:t>Multidisciplinares en Métodos Cuantitativos</a:t>
            </a:r>
          </a:p>
        </p:txBody>
      </p:sp>
      <p:sp>
        <p:nvSpPr>
          <p:cNvPr id="6" name="Shape 4"/>
          <p:cNvSpPr/>
          <p:nvPr/>
        </p:nvSpPr>
        <p:spPr>
          <a:xfrm>
            <a:off x="329184" y="1115568"/>
            <a:ext cx="6199632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24130">
            <a:solidFill>
              <a:srgbClr val="F39200"/>
            </a:solidFill>
            <a:prstDash val="solid"/>
          </a:ln>
          <a:effectLst>
            <a:outerShdw blurRad="12700" dist="50800" dir="2700000" algn="bl" rotWithShape="0">
              <a:srgbClr val="FFD0A8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475488" y="1316736"/>
            <a:ext cx="58704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B5530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📊  Enfoques Modernos de Difference-in-Differences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502920" y="213055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40" b="1" dirty="0">
                <a:solidFill>
                  <a:srgbClr val="25252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🎙️ Ponente</a:t>
            </a:r>
            <a:endParaRPr lang="en-US" sz="1240" dirty="0"/>
          </a:p>
        </p:txBody>
      </p:sp>
      <p:sp>
        <p:nvSpPr>
          <p:cNvPr id="9" name="Shape 7"/>
          <p:cNvSpPr/>
          <p:nvPr/>
        </p:nvSpPr>
        <p:spPr>
          <a:xfrm>
            <a:off x="512064" y="2432304"/>
            <a:ext cx="685800" cy="0"/>
          </a:xfrm>
          <a:prstGeom prst="line">
            <a:avLst/>
          </a:prstGeom>
          <a:noFill/>
          <a:ln w="26670">
            <a:solidFill>
              <a:srgbClr val="F392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512064" y="2615184"/>
            <a:ext cx="2075688" cy="2121408"/>
          </a:xfrm>
          <a:prstGeom prst="roundRect">
            <a:avLst>
              <a:gd name="adj" fmla="val 3524"/>
            </a:avLst>
          </a:prstGeom>
          <a:solidFill>
            <a:srgbClr val="FFFFFF"/>
          </a:solidFill>
          <a:ln w="12700">
            <a:solidFill>
              <a:srgbClr val="F7CDAE"/>
            </a:solidFill>
            <a:prstDash val="solid"/>
          </a:ln>
          <a:effectLst>
            <a:outerShdw blurRad="25400" dist="50800" dir="2700000" algn="bl" rotWithShape="0">
              <a:srgbClr val="BCA28B">
                <a:alpha val="23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" name="Image 0" descr="/mnt/data/user-kFxlzeVC9OKOiqKtRZPm51O9/56124a42078b40f891e0679f857fd628/mnt/data/media/ppt/media/image4.jpg"/>
          <p:cNvPicPr>
            <a:picLocks noChangeAspect="1"/>
          </p:cNvPicPr>
          <p:nvPr/>
        </p:nvPicPr>
        <p:blipFill>
          <a:blip r:embed="rId3"/>
          <a:srcRect t="2392" b="2392"/>
          <a:stretch/>
        </p:blipFill>
        <p:spPr>
          <a:xfrm>
            <a:off x="576072" y="2688336"/>
            <a:ext cx="1938528" cy="1956816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76072" y="4690872"/>
            <a:ext cx="1938528" cy="0"/>
          </a:xfrm>
          <a:prstGeom prst="line">
            <a:avLst/>
          </a:prstGeom>
          <a:noFill/>
          <a:ln w="27940">
            <a:solidFill>
              <a:srgbClr val="B6176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0"/>
          <p:cNvSpPr/>
          <p:nvPr/>
        </p:nvSpPr>
        <p:spPr>
          <a:xfrm>
            <a:off x="2743200" y="2743200"/>
            <a:ext cx="3611880" cy="1536192"/>
          </a:xfrm>
          <a:prstGeom prst="roundRect">
            <a:avLst>
              <a:gd name="adj" fmla="val 6548"/>
            </a:avLst>
          </a:prstGeom>
          <a:solidFill>
            <a:srgbClr val="FFF0E6"/>
          </a:solidFill>
          <a:ln w="12700">
            <a:solidFill>
              <a:srgbClr val="FFF0E6">
                <a:alpha val="0"/>
              </a:srgbClr>
            </a:solidFill>
            <a:prstDash val="solid"/>
          </a:ln>
          <a:effectLst>
            <a:outerShdw blurRad="12700" dist="50800" dir="2700000" algn="bl" rotWithShape="0">
              <a:srgbClr val="F6D1BA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2999232" y="2999232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Dra. Lídia Farré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3008376" y="3456432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sz="1700">
                <a:solidFill>
                  <a:srgbClr val="262626"/>
                </a:solidFill>
                <a:latin typeface="Aptos"/>
              </a:rPr>
              <a:t>Catedrática de Universidad</a:t>
            </a:r>
          </a:p>
          <a:p>
            <a:r>
              <a:rPr sz="1700">
                <a:solidFill>
                  <a:srgbClr val="262626"/>
                </a:solidFill>
                <a:latin typeface="Aptos"/>
              </a:rPr>
              <a:t>Economía Aplicada</a:t>
            </a:r>
          </a:p>
        </p:txBody>
      </p:sp>
      <p:sp>
        <p:nvSpPr>
          <p:cNvPr id="16" name="Shape 13"/>
          <p:cNvSpPr/>
          <p:nvPr/>
        </p:nvSpPr>
        <p:spPr>
          <a:xfrm>
            <a:off x="3008376" y="4059936"/>
            <a:ext cx="1335024" cy="0"/>
          </a:xfrm>
          <a:prstGeom prst="line">
            <a:avLst/>
          </a:prstGeom>
          <a:noFill/>
          <a:ln w="29210">
            <a:solidFill>
              <a:srgbClr val="B6176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4"/>
          <p:cNvSpPr/>
          <p:nvPr/>
        </p:nvSpPr>
        <p:spPr>
          <a:xfrm>
            <a:off x="576072" y="4919472"/>
            <a:ext cx="4480000" cy="713232"/>
          </a:xfrm>
          <a:prstGeom prst="roundRect">
            <a:avLst>
              <a:gd name="adj" fmla="val 11538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F39200">
                <a:alpha val="95000"/>
              </a:srgbClr>
            </a:solidFill>
            <a:prstDash val="solid"/>
          </a:ln>
          <a:effectLst>
            <a:outerShdw blurRad="25400" dist="50800" dir="2700000" algn="bl" rotWithShape="0">
              <a:srgbClr val="FFD2AB">
                <a:alpha val="19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786384" y="5093208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000000"/>
                </a:solidFill>
              </a:rPr>
              <a:t>🗓️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1124712" y="5029200"/>
            <a:ext cx="24688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525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Martes: 10/noviembre/2026</a:t>
            </a:r>
            <a:endParaRPr lang="en-US" sz="980" dirty="0"/>
          </a:p>
        </p:txBody>
      </p:sp>
      <p:sp>
        <p:nvSpPr>
          <p:cNvPr id="20" name="Text 17"/>
          <p:cNvSpPr/>
          <p:nvPr/>
        </p:nvSpPr>
        <p:spPr>
          <a:xfrm>
            <a:off x="786384" y="5340096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📍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124712" y="5257800"/>
            <a:ext cx="3364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sz="1060">
                <a:solidFill>
                  <a:srgbClr val="262626"/>
                </a:solidFill>
                <a:latin typeface="Aptos"/>
              </a:rPr>
              <a:t>10:00-14:00 horas en el aula E14 de la</a:t>
            </a:r>
          </a:p>
          <a:p>
            <a:r>
              <a:rPr sz="1060">
                <a:solidFill>
                  <a:srgbClr val="262626"/>
                </a:solidFill>
                <a:latin typeface="Aptos"/>
              </a:rPr>
              <a:t>Facultad de Ciencias Económicas y Empresariales</a:t>
            </a:r>
          </a:p>
        </p:txBody>
      </p:sp>
      <p:sp>
        <p:nvSpPr>
          <p:cNvPr id="22" name="Text 19"/>
          <p:cNvSpPr/>
          <p:nvPr/>
        </p:nvSpPr>
        <p:spPr>
          <a:xfrm>
            <a:off x="5115000" y="4700000"/>
            <a:ext cx="115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sz="880" b="1">
                <a:solidFill>
                  <a:srgbClr val="B5530A"/>
                </a:solidFill>
                <a:latin typeface="Aptos"/>
              </a:rPr>
              <a:t>📄 Programa completo</a:t>
            </a:r>
          </a:p>
        </p:txBody>
      </p:sp>
      <p:sp>
        <p:nvSpPr>
          <p:cNvPr id="23" name="Shape 20"/>
          <p:cNvSpPr/>
          <p:nvPr/>
        </p:nvSpPr>
        <p:spPr>
          <a:xfrm>
            <a:off x="713232" y="5760720"/>
            <a:ext cx="4340000" cy="329184"/>
          </a:xfrm>
          <a:prstGeom prst="roundRect">
            <a:avLst>
              <a:gd name="adj" fmla="val 22222"/>
            </a:avLst>
          </a:prstGeom>
          <a:solidFill>
            <a:srgbClr val="FFF7F0"/>
          </a:solidFill>
          <a:ln w="12700">
            <a:solidFill>
              <a:srgbClr val="F392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923544" y="5843016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b="1" dirty="0">
                <a:solidFill>
                  <a:srgbClr val="A244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✍️  Inscripción gratuita:</a:t>
            </a:r>
            <a:endParaRPr lang="en-US" sz="740" dirty="0"/>
          </a:p>
        </p:txBody>
      </p:sp>
      <p:sp>
        <p:nvSpPr>
          <p:cNvPr id="25" name="Text 22"/>
          <p:cNvSpPr/>
          <p:nvPr/>
        </p:nvSpPr>
        <p:spPr>
          <a:xfrm>
            <a:off x="2103120" y="5843016"/>
            <a:ext cx="3154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s-ES" sz="710" b="1" dirty="0">
                <a:solidFill>
                  <a:srgbClr val="7A6F66"/>
                </a:solidFill>
                <a:latin typeface="Aptos" pitchFamily="34" charset="0"/>
              </a:rPr>
              <a:t>formulario disponible próximamente</a:t>
            </a:r>
            <a:endParaRPr lang="en-US" sz="710" dirty="0"/>
          </a:p>
        </p:txBody>
      </p:sp>
      <p:pic>
        <p:nvPicPr>
          <p:cNvPr id="26" name="Image 1" descr="/mnt/data/user-kFxlzeVC9OKOiqKtRZPm51O9/56124a42078b40f891e0679f857fd628/mnt/data/media/ppt/media/imag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888" y="6254496"/>
            <a:ext cx="749808" cy="502920"/>
          </a:xfrm>
          <a:prstGeom prst="rect">
            <a:avLst/>
          </a:prstGeom>
        </p:spPr>
      </p:pic>
      <p:pic>
        <p:nvPicPr>
          <p:cNvPr id="27" name="Image 2" descr="/mnt/data/user-kFxlzeVC9OKOiqKtRZPm51O9/56124a42078b40f891e0679f857fd628/mnt/data/media/ppt/media/image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05456" y="6327648"/>
            <a:ext cx="1673352" cy="475488"/>
          </a:xfrm>
          <a:prstGeom prst="rect">
            <a:avLst/>
          </a:prstGeom>
        </p:spPr>
      </p:pic>
      <p:pic>
        <p:nvPicPr>
          <p:cNvPr id="28" name="Image 3" descr="/mnt/data/user-kFxlzeVC9OKOiqKtRZPm51O9/56124a42078b40f891e0679f857fd628/mnt/data/media/ppt/media/image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3480" y="6300216"/>
            <a:ext cx="1609344" cy="475488"/>
          </a:xfrm>
          <a:prstGeom prst="rect">
            <a:avLst/>
          </a:prstGeom>
        </p:spPr>
      </p:pic>
      <p:sp>
        <p:nvSpPr>
          <p:cNvPr id="30" name="QR Card"/>
          <p:cNvSpPr/>
          <p:nvPr/>
        </p:nvSpPr>
        <p:spPr>
          <a:xfrm>
            <a:off x="5172975" y="5019675"/>
            <a:ext cx="1028700" cy="10287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0D3C6"/>
            </a:solidFill>
            <a:prstDash val="solid"/>
          </a:ln>
          <a:effectLst>
            <a:outerShdw blurRad="25400" dist="30480" dir="5400000" algn="tl" rotWithShape="0">
              <a:srgbClr val="BCA28B">
                <a:alpha val="22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1" name="QR Programa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29225" y="5076825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58</Words>
  <Application>Microsoft Office PowerPoint</Application>
  <PresentationFormat>Personalizado</PresentationFormat>
  <Paragraphs>16</Paragraphs>
  <Slides>1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Presentación de PowerPoint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IV Jornadas Metodológicas — Enfoques Modernos de Difference-in-Differences</dc:title>
  <dc:subject>Improved academic flyer</dc:subject>
  <dc:creator>OpenAI</dc:creator>
  <cp:lastModifiedBy>ajbc</cp:lastModifiedBy>
  <cp:revision>1</cp:revision>
  <dcterms:created xsi:type="dcterms:W3CDTF">2026-09-18T14:58:00Z</dcterms:created>
  <dcterms:modified xsi:type="dcterms:W3CDTF">2026-09-28T10:20:35Z</dcterms:modified>
</cp:coreProperties>
</file>